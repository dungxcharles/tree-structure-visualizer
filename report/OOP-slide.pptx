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Open Sans" panose="020B0606030504020204" pitchFamily="34" charset="0"/>
      <p:regular r:id="rId18"/>
      <p:bold r:id="rId19"/>
    </p:embeddedFont>
    <p:embeddedFont>
      <p:font typeface="Playfair Display Bold" panose="020B0604020202020204" charset="0"/>
      <p:regular r:id="rId20"/>
    </p:embeddedFont>
  </p:embeddedFontLst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5951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jp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50044"/>
            <a:ext cx="7947794" cy="719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Tree Operation - Tree Data Structure Visualization Application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98066" y="1257077"/>
            <a:ext cx="840499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JavaFX desktop app that visualizes tree data structures and operations step by step for teaching and debugging.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98066" y="1558007"/>
            <a:ext cx="7947794" cy="8632"/>
          </a:xfrm>
          <a:prstGeom prst="rect">
            <a:avLst/>
          </a:prstGeom>
          <a:solidFill>
            <a:srgbClr val="39393C">
              <a:alpha val="50000"/>
            </a:srgbClr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66" y="1700585"/>
            <a:ext cx="5669682" cy="30927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98D7F0-B11D-C078-8956-B8E4D13D2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902" y="4763466"/>
            <a:ext cx="1188098" cy="3800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51160"/>
            <a:ext cx="3711476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Members &amp; Assignment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21643" y="912465"/>
            <a:ext cx="8100640" cy="3879800"/>
          </a:xfrm>
          <a:prstGeom prst="roundRect">
            <a:avLst>
              <a:gd name="adj" fmla="val 45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Text 2"/>
          <p:cNvSpPr/>
          <p:nvPr/>
        </p:nvSpPr>
        <p:spPr>
          <a:xfrm>
            <a:off x="643905" y="980256"/>
            <a:ext cx="3051944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Member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8113" y="980256"/>
            <a:ext cx="1431354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691732" y="980256"/>
            <a:ext cx="426563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Responsibilities &amp; Contribution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3905" y="1282750"/>
            <a:ext cx="3051944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Nguyen Tien Dung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8113" y="1282750"/>
            <a:ext cx="1431354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202417116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91732" y="1282750"/>
            <a:ext cx="3808437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Controller development, view designing and building, bug fixing, refactoring, navigation flow implementation, design class diagram, and use case diagram support— 21%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3905" y="1928589"/>
            <a:ext cx="3051944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Nguyen Khac Khiem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8113" y="1928589"/>
            <a:ext cx="1431354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202417142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91732" y="1928589"/>
            <a:ext cx="3808437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Developed controller logic, designed and built view components, supported animation handling, implemented navigation flow, refactored code, and contributed to class diagram and use case diagram design — 21%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3905" y="2746102"/>
            <a:ext cx="3051944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 Quang Thang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8113" y="2746102"/>
            <a:ext cx="1431354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202417196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91732" y="2746102"/>
            <a:ext cx="3808437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Model architecture design, tree data structure algorithm implementation, pseudo-code display implementation, controller connection support, report writing support, and use case diagram design. — 20%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3905" y="3563615"/>
            <a:ext cx="3051944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Vu Khanh Toan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8113" y="3563615"/>
            <a:ext cx="1431354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202417204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91732" y="3563615"/>
            <a:ext cx="3808437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diagram design, BST, AVL and Red-Black Tree model implementation, pseudo-code display support, controller connection support, debugging and testing, main report and slide preparation, and partial controller/view development. — 20%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3905" y="4381128"/>
            <a:ext cx="3051944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Nguyen Xuan Thuy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8113" y="4381128"/>
            <a:ext cx="1431354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202417202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91732" y="4381128"/>
            <a:ext cx="3808437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Partial View and Controller development, exception handling implementation, and input error handling support. — 18%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5FB8357-9E12-2C6B-9226-283908D44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902" y="4763466"/>
            <a:ext cx="1188098" cy="3800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0E0EC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38" y="1833562"/>
            <a:ext cx="2066925" cy="14763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60258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Problem Statement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258169"/>
            <a:ext cx="4722763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Tree data structures are important in computer science.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Static diagrams are not enough to understand tree algorithms.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Insertion, deletion, traversal, AVL rotations, and Red‑Black recoloring have many intermediate steps.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solve this by visualizing tree operations step by step.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5DF421-B75B-B721-2CF9-2C48C1ECB2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902" y="4763466"/>
            <a:ext cx="1188098" cy="3800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182" y="320353"/>
            <a:ext cx="3059906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Use Cases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182" y="846311"/>
            <a:ext cx="4013969" cy="36776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0182" y="4609951"/>
            <a:ext cx="5706963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88609" y="829121"/>
            <a:ext cx="1679823" cy="784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spcAft>
                <a:spcPts val="1650"/>
              </a:spcAft>
              <a:buNone/>
            </a:pPr>
            <a:endParaRPr lang="en-US" sz="800" dirty="0"/>
          </a:p>
          <a:p>
            <a:pPr marL="0" indent="0" algn="l">
              <a:lnSpc>
                <a:spcPct val="116000"/>
              </a:lnSpc>
              <a:spcAft>
                <a:spcPts val="1650"/>
              </a:spcAft>
              <a:buNone/>
            </a:pPr>
            <a:endParaRPr lang="en-US" sz="800" dirty="0"/>
          </a:p>
          <a:p>
            <a:pPr marL="0" indent="0" algn="l">
              <a:lnSpc>
                <a:spcPct val="116000"/>
              </a:lnSpc>
              <a:spcAft>
                <a:spcPts val="1650"/>
              </a:spcAft>
              <a:buNone/>
            </a:pPr>
            <a:endParaRPr lang="en-US" sz="8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 Features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488609" y="2173320"/>
            <a:ext cx="1679823" cy="1262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42900" indent="-34290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 tree operations: insert, search, update, delete</a:t>
            </a:r>
            <a:endParaRPr lang="en-US" sz="800" dirty="0"/>
          </a:p>
          <a:p>
            <a:pPr marL="342900" indent="-34290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 algorithm pseudocode</a:t>
            </a:r>
            <a:endParaRPr lang="en-US" sz="800" dirty="0"/>
          </a:p>
          <a:p>
            <a:pPr marL="342900" indent="-34290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 animation playback</a:t>
            </a:r>
            <a:endParaRPr lang="en-US" sz="800" dirty="0"/>
          </a:p>
          <a:p>
            <a:pPr marL="342900" indent="-34290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Customize visualization settings</a:t>
            </a:r>
            <a:endParaRPr lang="en-US" sz="800" dirty="0"/>
          </a:p>
          <a:p>
            <a:pPr marL="342900" indent="-34290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 tree and project information</a:t>
            </a:r>
            <a:endParaRPr lang="en-US" sz="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646AF9-FE06-3F9A-3F46-E3CB2E7A5E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902" y="4763466"/>
            <a:ext cx="1188098" cy="3800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372294"/>
            <a:ext cx="3807842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General Class Diagram</a:t>
            </a:r>
            <a:endParaRPr lang="en-US" sz="2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71" y="1061963"/>
            <a:ext cx="3572842" cy="32905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1871" y="4478982"/>
            <a:ext cx="648965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910081" y="511132"/>
            <a:ext cx="1919660" cy="1258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spcAft>
                <a:spcPts val="2300"/>
              </a:spcAft>
              <a:buNone/>
            </a:pPr>
            <a:endParaRPr lang="en-US" sz="950" dirty="0"/>
          </a:p>
          <a:p>
            <a:pPr>
              <a:lnSpc>
                <a:spcPct val="126000"/>
              </a:lnSpc>
              <a:spcAft>
                <a:spcPts val="2300"/>
              </a:spcAft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Explain the overall MVC architecture:</a:t>
            </a:r>
            <a:endParaRPr lang="en-US" sz="950" dirty="0"/>
          </a:p>
          <a:p>
            <a:pPr marL="0" indent="0" algn="l">
              <a:lnSpc>
                <a:spcPct val="126000"/>
              </a:lnSpc>
              <a:spcAft>
                <a:spcPts val="2300"/>
              </a:spcAft>
              <a:buNone/>
            </a:pP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971691" y="1513768"/>
            <a:ext cx="1919660" cy="2218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Model: tree algorithms, nodes, operation steps, history, exceptions</a:t>
            </a:r>
            <a:endParaRPr lang="en-US" sz="95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View: canvas, visual nodes, visual edges, renderers, layouts</a:t>
            </a:r>
            <a:endParaRPr lang="en-US" sz="95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Controller: workspace, navigation, tree selection, visualization, settings</a:t>
            </a:r>
            <a:endParaRPr lang="en-US" sz="95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model does not directly depend on JavaFX UI.</a:t>
            </a:r>
            <a:endParaRPr lang="en-US" sz="9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42CB34-A8A4-8F4A-62F5-6D03C57383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902" y="4763466"/>
            <a:ext cx="1188098" cy="3800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368647"/>
            <a:ext cx="377986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Model Class Diagram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62" y="970806"/>
            <a:ext cx="7642101" cy="2709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5162" y="3820046"/>
            <a:ext cx="8213675" cy="954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AbstractTree defines the common tree API.</a:t>
            </a:r>
            <a:endParaRPr lang="en-US" sz="1000" dirty="0"/>
          </a:p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Concrete tree classes: GeneralTree, BinaryTree, BinarySearchTree, AVLTree, RedBlackTree.</a:t>
            </a:r>
            <a:endParaRPr lang="en-US" sz="1000" dirty="0"/>
          </a:p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Node classes: Node, GenericNode, BinaryNode, AVLNode, RBNode.</a:t>
            </a:r>
            <a:endParaRPr lang="en-US" sz="1000" dirty="0"/>
          </a:p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classes: StepType, AnimationStep, TreeOperationListener.</a:t>
            </a:r>
            <a:endParaRPr lang="en-US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24D0DC-68D9-9281-652A-AA88560DFF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902" y="4763466"/>
            <a:ext cx="1188098" cy="3800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359346"/>
            <a:ext cx="3613696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View Class Diagram</a:t>
            </a:r>
            <a:endParaRPr lang="en-US" sz="2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71" y="1049015"/>
            <a:ext cx="4651772" cy="32911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72883" y="1023714"/>
            <a:ext cx="1834009" cy="3021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VisualTree, VisualNode, VisualEdge represent the visual state.</a:t>
            </a:r>
            <a:endParaRPr lang="en-US" sz="95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VisualTreeMapper converts logical trees into visual trees.</a:t>
            </a:r>
            <a:endParaRPr lang="en-US" sz="95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TreeCanvas renders the tree on JavaFX Canvas.</a:t>
            </a:r>
            <a:endParaRPr lang="en-US" sz="95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NodeRenderer and EdgeRenderer handle drawing.</a:t>
            </a:r>
            <a:endParaRPr lang="en-US" sz="95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LayoutStrategy is implemented by BinaryTreeLayout and GeneralTreeLayout.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41871" y="4593134"/>
            <a:ext cx="8702129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endParaRPr lang="en-US" sz="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A395A2-587B-F181-4FFC-91151092EC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902" y="4763466"/>
            <a:ext cx="1188098" cy="3800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359866"/>
            <a:ext cx="4175522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Controller Class Diagram</a:t>
            </a:r>
            <a:endParaRPr lang="en-US" sz="2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71" y="1049536"/>
            <a:ext cx="3992910" cy="32901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58533" y="1024235"/>
            <a:ext cx="1748284" cy="3021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WorkspaceController handles main user operations.</a:t>
            </a:r>
            <a:endParaRPr lang="en-US" sz="95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TreeVisualization Controller records model steps and plays animations.</a:t>
            </a:r>
            <a:endParaRPr lang="en-US" sz="95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NavigationManager handles screen switching.</a:t>
            </a:r>
            <a:endParaRPr lang="en-US" sz="95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TreeSelection Controller handles tree type selection.</a:t>
            </a:r>
            <a:endParaRPr lang="en-US" sz="95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SettingsController handles theme and resolution settings.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41871" y="4592687"/>
            <a:ext cx="8702129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endParaRPr lang="en-US" sz="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5D952D-5154-E69D-960B-2DFFFE81FE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902" y="4763466"/>
            <a:ext cx="1188098" cy="3800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30026"/>
            <a:ext cx="4063231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OOP Technique - Inheritance</a:t>
            </a:r>
            <a:endParaRPr lang="en-US" sz="2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59" y="821754"/>
            <a:ext cx="7336408" cy="28695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3759" y="3780979"/>
            <a:ext cx="7336408" cy="1032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AbstractTree</a:t>
            </a: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serves as the foundational base class for all concrete tree implementations.</a:t>
            </a:r>
            <a:endParaRPr lang="en-US" sz="8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BinarySearchTree</a:t>
            </a: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8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AVLTree</a:t>
            </a: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and </a:t>
            </a:r>
            <a:r>
              <a:rPr lang="en-US" sz="8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RedBlackTree</a:t>
            </a: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inherit and expand upon binary tree functionalities.</a:t>
            </a:r>
            <a:endParaRPr lang="en-US" sz="8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provides the base structure for specialized node types like </a:t>
            </a:r>
            <a:r>
              <a:rPr lang="en-US" sz="8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GenericNode</a:t>
            </a: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r>
              <a:rPr lang="en-US" sz="8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BinaryNode</a:t>
            </a: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8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AVLNode</a:t>
            </a: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extends </a:t>
            </a:r>
            <a:r>
              <a:rPr lang="en-US" sz="8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BinaryNode</a:t>
            </a: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incorporating height information for balancing.</a:t>
            </a:r>
            <a:endParaRPr lang="en-US" sz="8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RBNode</a:t>
            </a: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extends </a:t>
            </a:r>
            <a:r>
              <a:rPr lang="en-US" sz="8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BinaryNode</a:t>
            </a: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adding color attributes essential for Red-Black Tree properties.</a:t>
            </a:r>
            <a:endParaRPr lang="en-US" sz="8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inheritance structure promotes code reuse and ensures consistent interfaces across all tree implementations.</a:t>
            </a:r>
            <a:endParaRPr lang="en-US" sz="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91DBA6-D6A7-F662-DA5D-0C5DB6B14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902" y="4763466"/>
            <a:ext cx="1188098" cy="3800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" y="1714500"/>
            <a:ext cx="3048000" cy="1714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870871" y="476176"/>
            <a:ext cx="5205264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OOP Technique - Polymorphism</a:t>
            </a:r>
            <a:endParaRPr lang="en-US" sz="2450" dirty="0"/>
          </a:p>
        </p:txBody>
      </p:sp>
      <p:sp>
        <p:nvSpPr>
          <p:cNvPr id="5" name="Text 1"/>
          <p:cNvSpPr/>
          <p:nvPr/>
        </p:nvSpPr>
        <p:spPr>
          <a:xfrm>
            <a:off x="3870871" y="1039341"/>
            <a:ext cx="4831259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Polymorphism is crucial for handling diverse tree types dynamically without altering core controller logic.</a:t>
            </a:r>
            <a:endParaRPr lang="en-US" sz="9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56583" y="1547738"/>
            <a:ext cx="2373660" cy="150673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054227" y="1688232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Dynamic Dispatch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4054227" y="1952923"/>
            <a:ext cx="2035522" cy="954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controller calls methods through AbstractTree. At runtime, Java chooses the correct implementation for BST, AVL, Red-Black, or General Tree.</a:t>
            </a:r>
            <a:endParaRPr lang="en-US" sz="9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8395" y="1547738"/>
            <a:ext cx="2373734" cy="150673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526039" y="1688232"/>
            <a:ext cx="2035597" cy="394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Same API, Different Behavior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6526039" y="2150194"/>
            <a:ext cx="2035597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insert(), delete(), search(), and traverse() share the same method names, but each tree type implements its own algorithm.</a:t>
            </a:r>
            <a:endParaRPr lang="en-US" sz="9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56583" y="3166914"/>
            <a:ext cx="2373660" cy="150041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054227" y="3307407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Factory Support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4054227" y="3572098"/>
            <a:ext cx="2035522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TreeFactory returns the correct tree object from TreeType, so object creation is centralized and controller logic stays simple.</a:t>
            </a:r>
            <a:endParaRPr lang="en-US" sz="9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28395" y="3166914"/>
            <a:ext cx="2373734" cy="1500411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526039" y="3307407"/>
            <a:ext cx="177291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Interface Polymorphism</a:t>
            </a:r>
            <a:endParaRPr lang="en-US" sz="1200" dirty="0"/>
          </a:p>
        </p:txBody>
      </p:sp>
      <p:sp>
        <p:nvSpPr>
          <p:cNvPr id="17" name="Text 9"/>
          <p:cNvSpPr/>
          <p:nvPr/>
        </p:nvSpPr>
        <p:spPr>
          <a:xfrm>
            <a:off x="6526039" y="3572098"/>
            <a:ext cx="2035597" cy="954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LayoutStrategy and StepAnimationStrategy allow different layout and animation behaviors to be used through common interfaces.</a:t>
            </a:r>
            <a:endParaRPr lang="en-US" sz="9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DA19758-7994-0B06-6CB3-CC82430D91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902" y="4763466"/>
            <a:ext cx="1188098" cy="3800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22" y="1639714"/>
            <a:ext cx="3313881" cy="18640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832101" y="380033"/>
            <a:ext cx="4908798" cy="719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OOP Technique - Association, Aggregation, Composition</a:t>
            </a:r>
            <a:endParaRPr lang="en-US" sz="2250" dirty="0"/>
          </a:p>
        </p:txBody>
      </p:sp>
      <p:sp>
        <p:nvSpPr>
          <p:cNvPr id="5" name="Text 1"/>
          <p:cNvSpPr/>
          <p:nvPr/>
        </p:nvSpPr>
        <p:spPr>
          <a:xfrm>
            <a:off x="3832101" y="1240259"/>
            <a:ext cx="490879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Understanding the relationships between classes is crucial for building robust and maintainable software architectures.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3832101" y="1714574"/>
            <a:ext cx="2184946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Association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3832101" y="2070869"/>
            <a:ext cx="4908798" cy="566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"uses-a" / "knows-a"</a:t>
            </a:r>
            <a:endParaRPr lang="en-US" sz="900" dirty="0"/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AbstractTree notifies TreeOperationListener</a:t>
            </a:r>
            <a:endParaRPr lang="en-US" sz="900" dirty="0"/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Objects can exist independently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3832101" y="2777654"/>
            <a:ext cx="2184946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Aggregation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832101" y="3133948"/>
            <a:ext cx="4908798" cy="566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weak "has-a"</a:t>
            </a:r>
            <a:endParaRPr lang="en-US" sz="900" dirty="0"/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TreeVisualizationController groups Canvas, AnimationManager, LayoutStrategy</a:t>
            </a:r>
            <a:endParaRPr lang="en-US" sz="900" dirty="0"/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Parts can still exist independently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832101" y="3840733"/>
            <a:ext cx="2184946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Composition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832101" y="4197028"/>
            <a:ext cx="4908798" cy="566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 "part-of"</a:t>
            </a:r>
            <a:endParaRPr lang="en-US" sz="900" dirty="0"/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VisualTree owns VisualNode and VisualEdge collections</a:t>
            </a:r>
            <a:endParaRPr lang="en-US" sz="900" dirty="0"/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Parts belong to the whole object state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3959C9E-2C8D-DE49-7395-9B91828781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902" y="4763466"/>
            <a:ext cx="1188098" cy="3800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756</Words>
  <Application>Microsoft Office PowerPoint</Application>
  <PresentationFormat>On-screen Show (16:9)</PresentationFormat>
  <Paragraphs>102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Consolas</vt:lpstr>
      <vt:lpstr>Arial</vt:lpstr>
      <vt:lpstr>Playfair Display Bold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Vu Khanh Toan 202417204</cp:lastModifiedBy>
  <cp:revision>2</cp:revision>
  <dcterms:created xsi:type="dcterms:W3CDTF">2026-06-08T17:08:17Z</dcterms:created>
  <dcterms:modified xsi:type="dcterms:W3CDTF">2026-06-08T17:10:27Z</dcterms:modified>
</cp:coreProperties>
</file>