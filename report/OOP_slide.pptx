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  <p:embeddedFont>
      <p:font typeface="Playfair Display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5725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395"/>
            <a:ext cx="8151763" cy="705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Tree Operation - Tree Data Structure Visualization Application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280294"/>
            <a:ext cx="860896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JavaFX desktop app that visualizes tree data structures and operations step by step for teaching and debugging.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96119" y="1572071"/>
            <a:ext cx="8151763" cy="14288"/>
          </a:xfrm>
          <a:prstGeom prst="roundRect">
            <a:avLst>
              <a:gd name="adj" fmla="val 59998"/>
            </a:avLst>
          </a:prstGeom>
          <a:solidFill>
            <a:srgbClr val="39393C">
              <a:alpha val="50000"/>
            </a:srgbClr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15765"/>
            <a:ext cx="5560665" cy="30333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61A82F-18EA-6173-2193-4EBE53AC4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968342" y="4814596"/>
            <a:ext cx="1175657" cy="3289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3445"/>
            <a:ext cx="3650456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Members &amp; Assignment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496119" y="960537"/>
            <a:ext cx="8151763" cy="3769519"/>
          </a:xfrm>
          <a:prstGeom prst="roundRect">
            <a:avLst>
              <a:gd name="adj" fmla="val 45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Text 2"/>
          <p:cNvSpPr/>
          <p:nvPr/>
        </p:nvSpPr>
        <p:spPr>
          <a:xfrm>
            <a:off x="616074" y="1026170"/>
            <a:ext cx="307434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Member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68216" y="1026170"/>
            <a:ext cx="144348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689500" y="1026170"/>
            <a:ext cx="429570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Responsibilities &amp; Contribution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16074" y="1319659"/>
            <a:ext cx="307434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Nguyen Tien Dung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68216" y="1319659"/>
            <a:ext cx="144348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202417116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89500" y="1319659"/>
            <a:ext cx="3838501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Controller development, view designing and building, bug fixing, refactoring, navigation flow implementation, design class diagram, and use case diagram support— 21%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6074" y="1947118"/>
            <a:ext cx="307434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Nguyen Khac Khiem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68216" y="1947118"/>
            <a:ext cx="144348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202417142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89500" y="1947118"/>
            <a:ext cx="3838501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Developed controller logic, designed and built view components, supported animation handling, implemented navigation flow, refactored code, and contributed to class diagram and use case diagram design — 21%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6074" y="2741563"/>
            <a:ext cx="307434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 Quang Thang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68216" y="2741563"/>
            <a:ext cx="144348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202417196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89500" y="2741563"/>
            <a:ext cx="3838501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Model architecture design, tree data structure algorithm implementation, pseudo-code display implementation, controller connection support, report writing support, and use case diagram design. — 20%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6074" y="3536007"/>
            <a:ext cx="307434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Vu Khanh Toan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68216" y="3536007"/>
            <a:ext cx="144348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202417204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89500" y="3536007"/>
            <a:ext cx="3838501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diagram design, BST, AVL and Red-Black Tree model implementation, pseudo-code display support, controller connection support, debugging and testing, main report and slide preparation, and partial controller/view development. — 20%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6074" y="4330452"/>
            <a:ext cx="307434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Nguyen Xuan Thuy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68216" y="4330452"/>
            <a:ext cx="144348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202417202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89500" y="4330452"/>
            <a:ext cx="3838501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Partial View and Controller development, exception handling implementation, and input error handling support. — 18%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21B728C-30B0-E8DA-5ED9-561F118A4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968342" y="4814596"/>
            <a:ext cx="1175657" cy="3289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0E0EC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38" y="1833562"/>
            <a:ext cx="2066925" cy="14763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48917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144762"/>
            <a:ext cx="4722763" cy="1509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Tree data structures are fundamental in computer science.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Static diagrams are not enough to understand tree algorithms.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Operations such as insertion, deletion, traversal, AVL rotation and Red-Black recoloring have many intermediate steps.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application solves this by visualizing tree operations step by step.</a:t>
            </a:r>
            <a:endParaRPr lang="en-US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95BCCB-046A-ADA9-7CC3-62B4D61749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968342" y="4814596"/>
            <a:ext cx="1175657" cy="3289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4504"/>
            <a:ext cx="2893814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Use Cases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14846"/>
            <a:ext cx="3565996" cy="35269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517157"/>
            <a:ext cx="642766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615717" y="31924"/>
            <a:ext cx="1943546" cy="70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1500"/>
              </a:spcAft>
              <a:buNone/>
            </a:pPr>
            <a:endParaRPr lang="en-US" sz="1200" dirty="0"/>
          </a:p>
          <a:p>
            <a:pPr marL="0" indent="0" algn="l">
              <a:lnSpc>
                <a:spcPct val="113000"/>
              </a:lnSpc>
              <a:spcAft>
                <a:spcPts val="1500"/>
              </a:spcAft>
              <a:buNone/>
            </a:pPr>
            <a:endParaRPr lang="en-US" sz="1200" dirty="0"/>
          </a:p>
          <a:p>
            <a:pPr marL="0" indent="0" algn="l">
              <a:lnSpc>
                <a:spcPct val="113000"/>
              </a:lnSpc>
              <a:spcAft>
                <a:spcPts val="1500"/>
              </a:spcAft>
              <a:buNone/>
            </a:pPr>
            <a:endParaRPr lang="en-US" sz="12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Main Features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615717" y="1532036"/>
            <a:ext cx="1943546" cy="1146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2400" indent="-152400" algn="l">
              <a:lnSpc>
                <a:spcPct val="113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Insert, delete, update and search nodes</a:t>
            </a:r>
            <a:endParaRPr lang="en-US" sz="1100" dirty="0"/>
          </a:p>
          <a:p>
            <a:pPr marL="152400" indent="-152400" algn="l">
              <a:lnSpc>
                <a:spcPct val="113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traversal and algorithm steps</a:t>
            </a:r>
            <a:endParaRPr lang="en-US" sz="1100" dirty="0"/>
          </a:p>
          <a:p>
            <a:pPr marL="152400" indent="-152400" algn="l">
              <a:lnSpc>
                <a:spcPct val="113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 animation playback</a:t>
            </a:r>
            <a:endParaRPr lang="en-US" sz="1100" dirty="0"/>
          </a:p>
          <a:p>
            <a:pPr marL="152400" indent="-152400" algn="l">
              <a:lnSpc>
                <a:spcPct val="113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Customize theme, resolution and fullscreen mode</a:t>
            </a:r>
            <a:endParaRPr lang="en-US" sz="1100" dirty="0"/>
          </a:p>
          <a:p>
            <a:pPr marL="152400" indent="-152400" algn="l">
              <a:lnSpc>
                <a:spcPct val="113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tree details and project information</a:t>
            </a: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E5A308-8FD6-788F-DF4D-E8C6B7C20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968342" y="4814596"/>
            <a:ext cx="1175657" cy="3289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4504"/>
            <a:ext cx="3043907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General Class Diagram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14846"/>
            <a:ext cx="4346153" cy="35268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517082"/>
            <a:ext cx="642766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709023" y="607884"/>
            <a:ext cx="1943546" cy="323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1500"/>
              </a:spcAft>
              <a:buNone/>
            </a:pPr>
            <a:endParaRPr lang="en-US" sz="12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Explain the overall MVC architecture: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704335" y="1460711"/>
            <a:ext cx="1943546" cy="1409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2400" indent="-152400" algn="l">
              <a:lnSpc>
                <a:spcPct val="113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Model: tree structures, nodes, algorithm steps and history</a:t>
            </a:r>
            <a:endParaRPr lang="en-US" sz="1100" dirty="0"/>
          </a:p>
          <a:p>
            <a:pPr marL="152400" indent="-152400" algn="l">
              <a:lnSpc>
                <a:spcPct val="113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View: canvas, visual tree, layouts, renderers and animations</a:t>
            </a:r>
            <a:endParaRPr lang="en-US" sz="1100" dirty="0"/>
          </a:p>
          <a:p>
            <a:pPr marL="152400" indent="-152400" algn="l">
              <a:lnSpc>
                <a:spcPct val="113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Controller: handles user actions, navigation and visualization flow</a:t>
            </a:r>
            <a:endParaRPr lang="en-US" sz="1100" dirty="0"/>
          </a:p>
          <a:p>
            <a:pPr marL="152400" indent="-152400" algn="l">
              <a:lnSpc>
                <a:spcPct val="113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Supporting packages: theme, util, exceptions and FXML resources</a:t>
            </a:r>
            <a:endParaRPr lang="en-US" sz="1100" dirty="0"/>
          </a:p>
          <a:p>
            <a:pPr marL="152400" indent="-152400" algn="l">
              <a:lnSpc>
                <a:spcPct val="113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model reports operation steps but does not depend on JavaFX UI</a:t>
            </a: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784F08-A648-D51D-EB8A-55637B2FB9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968342" y="4814596"/>
            <a:ext cx="1175657" cy="3289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6896"/>
            <a:ext cx="3170709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Model Class Diagram</a:t>
            </a:r>
            <a:endParaRPr lang="en-US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70719"/>
            <a:ext cx="8151763" cy="28897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853979"/>
            <a:ext cx="8151763" cy="882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AbstractTree defines the common tree operation API.</a:t>
            </a:r>
            <a:endParaRPr lang="en-US" sz="850" dirty="0"/>
          </a:p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Concrete trees implement different rules: GeneralTree, BinaryTree, BST, AVL and Red-Black.</a:t>
            </a:r>
            <a:endParaRPr lang="en-US" sz="850" dirty="0"/>
          </a:p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Node hierarchy represents different node types: GenericNode, BinaryNode, AVLNode and RBNode.</a:t>
            </a:r>
            <a:endParaRPr lang="en-US" sz="850" dirty="0"/>
          </a:p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classes report algorithm events through StepType, AnimationStep and TreeOperationListener.</a:t>
            </a:r>
            <a:endParaRPr lang="en-US" sz="850" dirty="0"/>
          </a:p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Supporting classes handle factory creation, traversal types, history and exceptions.</a:t>
            </a:r>
            <a:endParaRPr lang="en-US" sz="8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D08B4B-6EF9-E1CF-E038-77D01AEE1D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968342" y="4814596"/>
            <a:ext cx="1175657" cy="3289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View Class Diagram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04255"/>
            <a:ext cx="6070550" cy="42948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44370" y="696292"/>
            <a:ext cx="1908200" cy="537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VisualTree, VisualNode and VisualEdge store the visual state.</a:t>
            </a:r>
            <a:endParaRPr lang="en-US" sz="11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VisualTree, VisualNode and VisualEdge store the visual state.</a:t>
            </a:r>
            <a:endParaRPr lang="en-US" sz="11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Renderers separate node and edge drawing logic.</a:t>
            </a:r>
            <a:endParaRPr lang="en-US" sz="11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LayoutStrategy supports GeneralTreeLayout and BinaryTreeLayout.</a:t>
            </a:r>
            <a:endParaRPr lang="en-US" sz="11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Animation and strategy classes convert algorithm steps into visual effects.</a:t>
            </a:r>
            <a:endParaRPr lang="en-US" sz="11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Camera and pseudocode components improve user interaction.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5078760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8408B0-EFE2-BE0E-A1A1-22A34ADC69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968342" y="4814596"/>
            <a:ext cx="1175657" cy="3289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7286"/>
            <a:ext cx="3327722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Controller Class Diagram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07628"/>
            <a:ext cx="4264000" cy="3526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91783" y="588761"/>
            <a:ext cx="1943546" cy="1688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3000"/>
              </a:lnSpc>
              <a:spcAft>
                <a:spcPts val="450"/>
              </a:spcAft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WorkspaceController handles tree operations and UI updates.</a:t>
            </a:r>
            <a:endParaRPr lang="en-US" sz="1100" dirty="0"/>
          </a:p>
          <a:p>
            <a:pPr marL="0" indent="0" algn="l">
              <a:lnSpc>
                <a:spcPct val="113000"/>
              </a:lnSpc>
              <a:spcAft>
                <a:spcPts val="450"/>
              </a:spcAft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TreeVisualizationController records model steps and converts them into animations.</a:t>
            </a:r>
            <a:endParaRPr lang="en-US" sz="1100" dirty="0"/>
          </a:p>
          <a:p>
            <a:pPr marL="0" indent="0" algn="l">
              <a:lnSpc>
                <a:spcPct val="113000"/>
              </a:lnSpc>
              <a:spcAft>
                <a:spcPts val="450"/>
              </a:spcAft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NavigationManager centralizes screen switching and theme application.</a:t>
            </a:r>
            <a:endParaRPr lang="en-US" sz="1100" dirty="0"/>
          </a:p>
          <a:p>
            <a:pPr marL="0" indent="0" algn="l">
              <a:lnSpc>
                <a:spcPct val="113000"/>
              </a:lnSpc>
              <a:spcAft>
                <a:spcPts val="450"/>
              </a:spcAft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TreeSelectionController and TreeDetailPopupController manage tree selection flow.</a:t>
            </a:r>
            <a:endParaRPr lang="en-US" sz="11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MainMenu, Settings and Credit controllers handle their own screens.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4584650"/>
            <a:ext cx="860896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endParaRPr lang="en-US" sz="7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ADEA8B-40FA-2C9A-3935-E48C5F9086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968342" y="4814596"/>
            <a:ext cx="1175657" cy="3289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2282"/>
            <a:ext cx="3311947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OOP Technique - Inheritance</a:t>
            </a:r>
            <a:endParaRPr lang="en-US" sz="1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65274"/>
            <a:ext cx="8151763" cy="31884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009951"/>
            <a:ext cx="8151763" cy="731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32080" indent="-132080" algn="l">
              <a:lnSpc>
                <a:spcPct val="106000"/>
              </a:lnSpc>
              <a:buSzPct val="100000"/>
              <a:buChar char="•"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AbstractTree defines the common operation contract for all tree types.</a:t>
            </a:r>
            <a:endParaRPr lang="en-US" sz="900" dirty="0"/>
          </a:p>
          <a:p>
            <a:pPr marL="132080" indent="-132080" algn="l">
              <a:lnSpc>
                <a:spcPct val="106000"/>
              </a:lnSpc>
              <a:buSzPct val="100000"/>
              <a:buChar char="•"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GeneralTree and BinaryTree inherit directly from AbstractTree.</a:t>
            </a:r>
            <a:endParaRPr lang="en-US" sz="900" dirty="0"/>
          </a:p>
          <a:p>
            <a:pPr marL="132080" indent="-132080" algn="l">
              <a:lnSpc>
                <a:spcPct val="106000"/>
              </a:lnSpc>
              <a:buSzPct val="100000"/>
              <a:buChar char="•"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BinarySearchTree extends BinaryTree, while AVLTree and RedBlackTree extend BinarySearchTree.</a:t>
            </a:r>
            <a:endParaRPr lang="en-US" sz="900" dirty="0"/>
          </a:p>
          <a:p>
            <a:pPr marL="132080" indent="-132080" algn="l">
              <a:lnSpc>
                <a:spcPct val="106000"/>
              </a:lnSpc>
              <a:buSzPct val="100000"/>
              <a:buChar char="•"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Node is the base class for GenericNode and BinaryNode.</a:t>
            </a:r>
            <a:endParaRPr lang="en-US" sz="900" dirty="0"/>
          </a:p>
          <a:p>
            <a:pPr marL="132080" indent="-132080" algn="l">
              <a:lnSpc>
                <a:spcPct val="106000"/>
              </a:lnSpc>
              <a:buSzPct val="100000"/>
              <a:buChar char="•"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AVLNode and RBNode specialize BinaryNode with height and color information.</a:t>
            </a:r>
            <a:endParaRPr lang="en-US" sz="900" dirty="0"/>
          </a:p>
          <a:p>
            <a:pPr marL="132080" indent="-132080" algn="l">
              <a:lnSpc>
                <a:spcPct val="106000"/>
              </a:lnSpc>
              <a:buSzPct val="100000"/>
              <a:buChar char="•"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Inheritance helps reuse shared behavior and keep tree interfaces consistent.</a:t>
            </a: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770A38-6E6E-7EDE-D3E1-C7704578B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968342" y="4814596"/>
            <a:ext cx="1175657" cy="3289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1714500"/>
            <a:ext cx="3048000" cy="1714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25119" y="460623"/>
            <a:ext cx="512244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OOP Technique - Polymorphism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3925119" y="1010915"/>
            <a:ext cx="472276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Polymorphism lets controllers use one common API while each tree type provides its own behavior.</a:t>
            </a:r>
            <a:endParaRPr lang="en-US" sz="9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1505024"/>
            <a:ext cx="2307134" cy="17246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120530" y="164328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Dynamic Dispatch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4120530" y="1902247"/>
            <a:ext cx="1973461" cy="995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WorkspaceController calls methods through AbstractTree&lt;?&gt;.</a:t>
            </a:r>
            <a:endParaRPr lang="en-US" sz="9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Java selects the correct tree implementation at runtime.</a:t>
            </a:r>
            <a:endParaRPr lang="en-US" sz="9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0748" y="1505024"/>
            <a:ext cx="2307134" cy="17246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536159" y="1643286"/>
            <a:ext cx="1973461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Same API, Different Behavior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6536159" y="2096095"/>
            <a:ext cx="1973461" cy="995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insert(), delete(), search() and traverse() are shared method names.</a:t>
            </a:r>
            <a:endParaRPr lang="en-US" sz="9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tree type implements them differently.</a:t>
            </a:r>
            <a:endParaRPr lang="en-US" sz="9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5119" y="3338140"/>
            <a:ext cx="2307134" cy="1344737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120530" y="347640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Factory Support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4120530" y="3735363"/>
            <a:ext cx="1973461" cy="80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TreeFactory creates the correct tree object from TreeType.</a:t>
            </a:r>
            <a:endParaRPr lang="en-US" sz="9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controller does not instantiate concrete trees directly.</a:t>
            </a:r>
            <a:endParaRPr lang="en-US" sz="9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40748" y="3338140"/>
            <a:ext cx="2307134" cy="1344737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536159" y="3476402"/>
            <a:ext cx="174195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Interface Polymorphism</a:t>
            </a:r>
            <a:endParaRPr lang="en-US" sz="1200" dirty="0"/>
          </a:p>
        </p:txBody>
      </p:sp>
      <p:sp>
        <p:nvSpPr>
          <p:cNvPr id="17" name="Text 9"/>
          <p:cNvSpPr/>
          <p:nvPr/>
        </p:nvSpPr>
        <p:spPr>
          <a:xfrm>
            <a:off x="6536159" y="3735363"/>
            <a:ext cx="1973461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LayoutStrategy and StepAnimationStrategy allow different layouts and animations through common interfaces.</a:t>
            </a:r>
            <a:endParaRPr lang="en-US" sz="9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4C1255A-1873-85AE-841D-1CEF5D8E22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7968342" y="4814596"/>
            <a:ext cx="1175657" cy="3289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64" y="1638449"/>
            <a:ext cx="3318272" cy="18665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25119" y="580430"/>
            <a:ext cx="4722763" cy="6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OOP Technique - Class Relationships</a:t>
            </a:r>
            <a:endParaRPr lang="en-US" sz="2150" dirty="0"/>
          </a:p>
        </p:txBody>
      </p:sp>
      <p:sp>
        <p:nvSpPr>
          <p:cNvPr id="5" name="Text 1"/>
          <p:cNvSpPr/>
          <p:nvPr/>
        </p:nvSpPr>
        <p:spPr>
          <a:xfrm>
            <a:off x="3925119" y="1402407"/>
            <a:ext cx="51799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uses association, aggregation and composition to organize class dependencies.</a:t>
            </a:r>
            <a:endParaRPr lang="en-US" sz="850" dirty="0"/>
          </a:p>
        </p:txBody>
      </p:sp>
      <p:sp>
        <p:nvSpPr>
          <p:cNvPr id="6" name="Text 2"/>
          <p:cNvSpPr/>
          <p:nvPr/>
        </p:nvSpPr>
        <p:spPr>
          <a:xfrm>
            <a:off x="3925119" y="1689943"/>
            <a:ext cx="21184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Association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3925119" y="2027411"/>
            <a:ext cx="4722763" cy="533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“uses-a” / “knows-a” relationship</a:t>
            </a:r>
            <a:endParaRPr lang="en-US" sz="850" dirty="0"/>
          </a:p>
          <a:p>
            <a:pPr marL="172720" indent="-172720" algn="l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AbstractTree notifies TreeOperationListener</a:t>
            </a:r>
            <a:endParaRPr lang="en-US" sz="850" dirty="0"/>
          </a:p>
          <a:p>
            <a:pPr marL="172720" indent="-172720" algn="l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Objects can exist independently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3925119" y="2690887"/>
            <a:ext cx="21184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Aggregation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925119" y="3028355"/>
            <a:ext cx="4722763" cy="533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weak “has-a” relationship</a:t>
            </a:r>
            <a:endParaRPr lang="en-US" sz="850" dirty="0"/>
          </a:p>
          <a:p>
            <a:pPr marL="172720" indent="-172720" algn="l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TreeVisualizationController groups TreeCanvas, AnimationManager and LayoutStrategy</a:t>
            </a:r>
            <a:endParaRPr lang="en-US" sz="850" dirty="0"/>
          </a:p>
          <a:p>
            <a:pPr marL="172720" indent="-172720" algn="l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Parts can still exist independently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3925119" y="3691830"/>
            <a:ext cx="21184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Composition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925119" y="4029298"/>
            <a:ext cx="4722763" cy="533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“part-of” relationship</a:t>
            </a:r>
            <a:endParaRPr lang="en-US" sz="850" dirty="0"/>
          </a:p>
          <a:p>
            <a:pPr marL="172720" indent="-172720" algn="l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VisualTree owns VisualNode and VisualEdge collections</a:t>
            </a:r>
            <a:endParaRPr lang="en-US" sz="850" dirty="0"/>
          </a:p>
          <a:p>
            <a:pPr marL="172720" indent="-172720" algn="l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Parts belong to the whole object's state</a:t>
            </a:r>
            <a:endParaRPr lang="en-US" sz="8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1B3387F-EC70-C432-07AB-0CFC141835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7968342" y="4814596"/>
            <a:ext cx="1175657" cy="3289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778</Words>
  <Application>Microsoft Office PowerPoint</Application>
  <PresentationFormat>On-screen Show (16:9)</PresentationFormat>
  <Paragraphs>108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Playfair Display Bold</vt:lpstr>
      <vt:lpstr>Open Sans Bold</vt:lpstr>
      <vt:lpstr>Arial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Vu Khanh Toan 202417204</cp:lastModifiedBy>
  <cp:revision>2</cp:revision>
  <dcterms:created xsi:type="dcterms:W3CDTF">2026-06-28T15:07:05Z</dcterms:created>
  <dcterms:modified xsi:type="dcterms:W3CDTF">2026-06-28T15:11:57Z</dcterms:modified>
</cp:coreProperties>
</file>